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61" r:id="rId18"/>
    <p:sldId id="262" r:id="rId19"/>
    <p:sldId id="263" r:id="rId20"/>
    <p:sldId id="264" r:id="rId21"/>
    <p:sldId id="266" r:id="rId22"/>
    <p:sldId id="279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22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5385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683A3-86DF-EF77-B225-04D57F0E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BE54F-08A8-001A-4D3A-9DE6AE86B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DF6089-C650-3190-5BCA-FC07A7D1B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68130-5AB0-523F-4527-CF56CACD91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515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C37E6-D4FE-2B92-177A-D21BD4BBD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AE9807-3D6C-A084-C467-FD6271001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2FCB4A-0256-E933-7E44-2EC1E086E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A83EE-472A-5CBD-BC00-E97BAB41C2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76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72371-4EEF-5398-696C-7C92D8944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46E028-28CA-E170-0B4F-43C1D5B3F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74FE0A-22F4-9378-9883-2A846BC68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A6C0E-5283-D1AF-32FB-F07134CA48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85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90098-F674-D89E-DFB0-1E1BF6EAE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3A119-E56A-750B-F4F5-3996C2A91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8999E-B4DB-1669-8C62-DB925961A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37BC1-BA9C-E12D-EAD1-12AF96447C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755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A2F32-A9B9-EF7E-8194-3128B46BB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18021-F7BC-B3A8-E7C2-4638C21D62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CDE1B-2E71-E21C-1771-2E6A539B4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301F2-A057-E8DD-FFB5-7727012A9B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824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025DC-85FB-F279-333E-A018891BB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67A7B-4A7D-E9AA-9B7E-DC86C7B17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18614-B0EF-1C5F-DD07-86F78F695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BF816-D477-2051-B69D-CC36F22617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330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3CCC7-0B69-E617-BBE9-DF3091E3B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35BF8-A9A2-1D40-B9BD-07373E32C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918348-ECFA-79CE-A70B-D179D716A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42CAE-25D2-70F9-D6E4-341D0BB0D6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127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437C6-6450-2129-48A5-ECE48A353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06028-4705-5C68-27C4-6227FEDA0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254C5-7436-DD44-D417-A867EC7BF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04989-9232-1EDC-E534-71EA78F684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385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374F9-FA1A-980E-583F-3B1D6A89B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6BED7D-66CD-1FEF-05FD-6414AE8C6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AD6F60-94F8-40B3-EFA5-D14E32DCB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FEC35-2191-34DF-F130-329AE1A68F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9678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0A76A-C836-2B9C-3D54-4A09C8140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9D489-CA4E-5182-AB4A-4EF3E5D564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CF94F-52D6-C954-ECF7-E3B407E74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3AACD-C1C6-B89C-4528-5C74E9043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789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D91CA-9ED3-0709-D424-C99429B2D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56D98A-38C9-EA03-FF13-92D370A5C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ADD811-36EC-FFA3-9659-E5B1EA894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71D6A-7069-392F-C189-C0307F4AD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856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86C28-8C57-7E85-4C34-7BE7081C9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1E6D8B-E1E9-1893-7005-2A6563339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B9D2D-EB7A-DED9-D083-F163A9E10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BF2F8-4589-ACD6-3F9F-8A643C4BD3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68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2011680"/>
          </a:xfrm>
          <a:prstGeom prst="rect">
            <a:avLst/>
          </a:prstGeom>
          <a:solidFill>
            <a:srgbClr val="0F766E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1F3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Management Platform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Implementation, and Evaluation of a Django REST API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286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</a:rPr>
              <a:t>Author: CAO Yuchen</a:t>
            </a:r>
            <a:r>
              <a:rPr lang="en-US" sz="1200" dirty="0">
                <a:solidFill>
                  <a:srgbClr val="94A3B8"/>
                </a:solidFill>
              </a:rPr>
              <a:t>   SWJTU ID: 2022115980   Leeds ID: 201690931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Django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40280" y="31546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77540" y="315468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223260" y="31546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SQLite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23560" y="315468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623560" y="31546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REST 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4622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2024 – 2025  Academic Year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Data &amp; Storage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2514600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SQL-backed employee management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SQLite database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Structured data model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82296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246120" y="822960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383280" y="822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API Design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170432"/>
            <a:ext cx="2514600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RESTful CRUD operations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Consistent JSON responses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Proper HTTP status codes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82296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217920" y="822960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355080" y="822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Security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170432"/>
            <a:ext cx="2514600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Authenticated write actions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Token-based auth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IsAuthenticatedOrReadOnly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60604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74320" y="2606040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11480" y="2606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Frontend Interface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2953512"/>
            <a:ext cx="2514600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Browser-based demo UI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HTML + Bootstrap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Consumes the same API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260604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246120" y="2606040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383280" y="2606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Documentation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2953512"/>
            <a:ext cx="2514600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Endpoint reference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Design decisions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Testing evidence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260604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217920" y="2606040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355080" y="2606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Testing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2953512"/>
            <a:ext cx="2514600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8 automated tests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Management command tests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Live demo evidence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Architecture &amp; 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389120" cy="8229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Presentation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075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F5"/>
                </a:solidFill>
              </a:rPr>
              <a:t>HTML · CSS · JavaScript · Bootstrap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0" y="1691640"/>
            <a:ext cx="731520" cy="27432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389120" cy="822960"/>
          </a:xfrm>
          <a:prstGeom prst="rect">
            <a:avLst/>
          </a:prstGeom>
          <a:solidFill>
            <a:srgbClr val="0F766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Application / API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04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F5"/>
                </a:solidFill>
              </a:rPr>
              <a:t>Django + Django REST Framework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0" y="2788920"/>
            <a:ext cx="731520" cy="27432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389120" cy="822960"/>
          </a:xfrm>
          <a:prstGeom prst="rect">
            <a:avLst/>
          </a:prstGeom>
          <a:solidFill>
            <a:srgbClr val="115E5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FAF5"/>
                </a:solidFill>
              </a:rPr>
              <a:t>SQLite Database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0" y="868680"/>
            <a:ext cx="35661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303520" y="868680"/>
            <a:ext cx="3566160" cy="38404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394960" y="868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This Stack?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40680" y="14721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440680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1417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Rapid Development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176479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Django's batteries-included approach minimises boilerplate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40680" y="2523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44068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24688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Maintainability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281635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DRF serialisers and class-based views keep code organised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40680" y="35753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44068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3520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Lightweight Deployment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0" y="386791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SQLite requires zero server setup for local coursework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Model &amp; Key Design Decisions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023360" cy="4572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Employee Model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4023360" cy="3200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4028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AutoField (PK)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402336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114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emp_id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028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CharField (unique)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965960"/>
            <a:ext cx="4023360" cy="3200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1148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export_id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CharField (unique)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402336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1148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first_name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CharField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06040"/>
            <a:ext cx="4023360" cy="3200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1148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last_name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40280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CharField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402336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1148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4028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EmailField (unique)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246120"/>
            <a:ext cx="4023360" cy="3200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1148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4028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CharField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566160"/>
            <a:ext cx="402336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1148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job_title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4028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CharField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886200"/>
            <a:ext cx="4023360" cy="3200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1148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4028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DateTimeField (auto)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206240"/>
            <a:ext cx="402336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41148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updated_at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240280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DateTimeField (auto)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9160" y="8321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572000" y="1783080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4572000" y="1783080"/>
            <a:ext cx="54864" cy="8961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4709160" y="18379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A4A"/>
                </a:solidFill>
              </a:rPr>
              <a:t>Lookup Order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709160" y="213055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Requests resolve first by id → export_id → emp_id, ensuring flexible client queries.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3196180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4572000" y="3196180"/>
            <a:ext cx="54864" cy="8961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4709160" y="32510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A4A"/>
                </a:solidFill>
              </a:rPr>
              <a:t>Unique Constraints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709160" y="354365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emp_id and email both carry DB-level UNIQUE constraints to enforce data integrity.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2">
            <a:extLst>
              <a:ext uri="{FF2B5EF4-FFF2-40B4-BE49-F238E27FC236}">
                <a16:creationId xmlns:a16="http://schemas.microsoft.com/office/drawing/2014/main" id="{7DA69B37-7896-AC78-45B7-A48A4FCAA853}"/>
              </a:ext>
            </a:extLst>
          </p:cNvPr>
          <p:cNvSpPr/>
          <p:nvPr/>
        </p:nvSpPr>
        <p:spPr>
          <a:xfrm>
            <a:off x="4572000" y="1199024"/>
            <a:ext cx="4297680" cy="167219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Endpoints &amp; Functional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Authentication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51560" y="1261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/api/auth/register/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17520" y="1261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Register a new user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65760" y="16642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51560" y="16642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17520" y="1664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Obtain auth token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240280"/>
            <a:ext cx="402336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74320" y="2240280"/>
            <a:ext cx="402336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65760" y="2240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Employee CRUD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697480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65760" y="269748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69848" y="26974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/api/employees/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35808" y="26974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List all employees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044952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365760" y="304495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69848" y="30449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/api/employees/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35808" y="30449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Create employee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392424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365760" y="3392424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69848" y="33924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/api/employees/{id}/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35808" y="33924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Retrieve employee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739896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65760" y="3739896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PUT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69848" y="37398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/api/employees/{id}/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035808" y="3739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Full update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087368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365760" y="408736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PATCH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69848" y="40873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/api/employees/{id}/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35808" y="40873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Partial update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434840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365760" y="443484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DELETE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69848" y="44348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/api/employees/{id}/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035808" y="44348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Delete employee</a:t>
            </a:r>
            <a:endParaRPr lang="en-US" sz="900" dirty="0"/>
          </a:p>
        </p:txBody>
      </p:sp>
      <p:sp>
        <p:nvSpPr>
          <p:cNvPr id="102" name="Shape 41">
            <a:extLst>
              <a:ext uri="{FF2B5EF4-FFF2-40B4-BE49-F238E27FC236}">
                <a16:creationId xmlns:a16="http://schemas.microsoft.com/office/drawing/2014/main" id="{9FD8DABF-AFB3-D7CC-36B6-64E0B885BC3A}"/>
              </a:ext>
            </a:extLst>
          </p:cNvPr>
          <p:cNvSpPr/>
          <p:nvPr/>
        </p:nvSpPr>
        <p:spPr>
          <a:xfrm>
            <a:off x="4572000" y="804672"/>
            <a:ext cx="4297680" cy="38404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3" name="Text 42">
            <a:extLst>
              <a:ext uri="{FF2B5EF4-FFF2-40B4-BE49-F238E27FC236}">
                <a16:creationId xmlns:a16="http://schemas.microsoft.com/office/drawing/2014/main" id="{BCB18540-C949-7DAD-FC94-00AC0A7D4125}"/>
              </a:ext>
            </a:extLst>
          </p:cNvPr>
          <p:cNvSpPr/>
          <p:nvPr/>
        </p:nvSpPr>
        <p:spPr>
          <a:xfrm>
            <a:off x="4663440" y="8046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Extended Endpoints</a:t>
            </a:r>
            <a:endParaRPr lang="en-US" sz="1300" dirty="0"/>
          </a:p>
        </p:txBody>
      </p:sp>
      <p:sp>
        <p:nvSpPr>
          <p:cNvPr id="104" name="Shape 43">
            <a:extLst>
              <a:ext uri="{FF2B5EF4-FFF2-40B4-BE49-F238E27FC236}">
                <a16:creationId xmlns:a16="http://schemas.microsoft.com/office/drawing/2014/main" id="{13C86739-B0AC-F092-1B9E-20603AD0A067}"/>
              </a:ext>
            </a:extLst>
          </p:cNvPr>
          <p:cNvSpPr/>
          <p:nvPr/>
        </p:nvSpPr>
        <p:spPr>
          <a:xfrm>
            <a:off x="4663440" y="128016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5" name="Text 44">
            <a:extLst>
              <a:ext uri="{FF2B5EF4-FFF2-40B4-BE49-F238E27FC236}">
                <a16:creationId xmlns:a16="http://schemas.microsoft.com/office/drawing/2014/main" id="{25D7E275-91FA-4383-874D-95F4A612D6F8}"/>
              </a:ext>
            </a:extLst>
          </p:cNvPr>
          <p:cNvSpPr/>
          <p:nvPr/>
        </p:nvSpPr>
        <p:spPr>
          <a:xfrm>
            <a:off x="4663440" y="12801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106" name="Text 45">
            <a:extLst>
              <a:ext uri="{FF2B5EF4-FFF2-40B4-BE49-F238E27FC236}">
                <a16:creationId xmlns:a16="http://schemas.microsoft.com/office/drawing/2014/main" id="{06A61DAE-B6AB-33CE-3EDE-4C6B83D84BAB}"/>
              </a:ext>
            </a:extLst>
          </p:cNvPr>
          <p:cNvSpPr/>
          <p:nvPr/>
        </p:nvSpPr>
        <p:spPr>
          <a:xfrm>
            <a:off x="5367528" y="1280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/api/employees/search/</a:t>
            </a:r>
            <a:endParaRPr lang="en-US" sz="950" dirty="0"/>
          </a:p>
        </p:txBody>
      </p:sp>
      <p:sp>
        <p:nvSpPr>
          <p:cNvPr id="107" name="Text 46">
            <a:extLst>
              <a:ext uri="{FF2B5EF4-FFF2-40B4-BE49-F238E27FC236}">
                <a16:creationId xmlns:a16="http://schemas.microsoft.com/office/drawing/2014/main" id="{7837699B-B0AB-742C-E589-EFA108EC5EFF}"/>
              </a:ext>
            </a:extLst>
          </p:cNvPr>
          <p:cNvSpPr/>
          <p:nvPr/>
        </p:nvSpPr>
        <p:spPr>
          <a:xfrm>
            <a:off x="5367528" y="15453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Search employees</a:t>
            </a:r>
            <a:endParaRPr lang="en-US" sz="900" dirty="0"/>
          </a:p>
        </p:txBody>
      </p:sp>
      <p:sp>
        <p:nvSpPr>
          <p:cNvPr id="108" name="Shape 47">
            <a:extLst>
              <a:ext uri="{FF2B5EF4-FFF2-40B4-BE49-F238E27FC236}">
                <a16:creationId xmlns:a16="http://schemas.microsoft.com/office/drawing/2014/main" id="{310FA738-4878-A9D0-D022-2603816BE867}"/>
              </a:ext>
            </a:extLst>
          </p:cNvPr>
          <p:cNvSpPr/>
          <p:nvPr/>
        </p:nvSpPr>
        <p:spPr>
          <a:xfrm>
            <a:off x="4663440" y="182880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9" name="Text 48">
            <a:extLst>
              <a:ext uri="{FF2B5EF4-FFF2-40B4-BE49-F238E27FC236}">
                <a16:creationId xmlns:a16="http://schemas.microsoft.com/office/drawing/2014/main" id="{64BCD8C2-A808-8961-3576-CECCC81FC66F}"/>
              </a:ext>
            </a:extLst>
          </p:cNvPr>
          <p:cNvSpPr/>
          <p:nvPr/>
        </p:nvSpPr>
        <p:spPr>
          <a:xfrm>
            <a:off x="4663440" y="18288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110" name="Text 49">
            <a:extLst>
              <a:ext uri="{FF2B5EF4-FFF2-40B4-BE49-F238E27FC236}">
                <a16:creationId xmlns:a16="http://schemas.microsoft.com/office/drawing/2014/main" id="{10E20D49-3CF3-5414-0208-612B1FA3FE4A}"/>
              </a:ext>
            </a:extLst>
          </p:cNvPr>
          <p:cNvSpPr/>
          <p:nvPr/>
        </p:nvSpPr>
        <p:spPr>
          <a:xfrm>
            <a:off x="5367528" y="1828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/api/employees/stats/</a:t>
            </a:r>
            <a:endParaRPr lang="en-US" sz="950" dirty="0"/>
          </a:p>
        </p:txBody>
      </p:sp>
      <p:sp>
        <p:nvSpPr>
          <p:cNvPr id="111" name="Text 50">
            <a:extLst>
              <a:ext uri="{FF2B5EF4-FFF2-40B4-BE49-F238E27FC236}">
                <a16:creationId xmlns:a16="http://schemas.microsoft.com/office/drawing/2014/main" id="{D3239E83-9AAD-DE74-8A99-26BD9F3A9B31}"/>
              </a:ext>
            </a:extLst>
          </p:cNvPr>
          <p:cNvSpPr/>
          <p:nvPr/>
        </p:nvSpPr>
        <p:spPr>
          <a:xfrm>
            <a:off x="5367528" y="20939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Department statistics</a:t>
            </a:r>
            <a:endParaRPr lang="en-US" sz="900" dirty="0"/>
          </a:p>
        </p:txBody>
      </p:sp>
      <p:sp>
        <p:nvSpPr>
          <p:cNvPr id="112" name="Shape 51">
            <a:extLst>
              <a:ext uri="{FF2B5EF4-FFF2-40B4-BE49-F238E27FC236}">
                <a16:creationId xmlns:a16="http://schemas.microsoft.com/office/drawing/2014/main" id="{AC45043A-EC54-7D60-778F-658AA6D830F6}"/>
              </a:ext>
            </a:extLst>
          </p:cNvPr>
          <p:cNvSpPr/>
          <p:nvPr/>
        </p:nvSpPr>
        <p:spPr>
          <a:xfrm>
            <a:off x="4663440" y="237744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3" name="Text 52">
            <a:extLst>
              <a:ext uri="{FF2B5EF4-FFF2-40B4-BE49-F238E27FC236}">
                <a16:creationId xmlns:a16="http://schemas.microsoft.com/office/drawing/2014/main" id="{A1CE8C0E-75EA-9A9B-C8E8-7F256CFF3C0A}"/>
              </a:ext>
            </a:extLst>
          </p:cNvPr>
          <p:cNvSpPr/>
          <p:nvPr/>
        </p:nvSpPr>
        <p:spPr>
          <a:xfrm>
            <a:off x="4663440" y="237744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114" name="Text 53">
            <a:extLst>
              <a:ext uri="{FF2B5EF4-FFF2-40B4-BE49-F238E27FC236}">
                <a16:creationId xmlns:a16="http://schemas.microsoft.com/office/drawing/2014/main" id="{1E836472-3516-23AA-9BAF-9750E134E289}"/>
              </a:ext>
            </a:extLst>
          </p:cNvPr>
          <p:cNvSpPr/>
          <p:nvPr/>
        </p:nvSpPr>
        <p:spPr>
          <a:xfrm>
            <a:off x="5367528" y="2377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/api/info/</a:t>
            </a:r>
            <a:endParaRPr lang="en-US" sz="950" dirty="0"/>
          </a:p>
        </p:txBody>
      </p:sp>
      <p:sp>
        <p:nvSpPr>
          <p:cNvPr id="115" name="Text 54">
            <a:extLst>
              <a:ext uri="{FF2B5EF4-FFF2-40B4-BE49-F238E27FC236}">
                <a16:creationId xmlns:a16="http://schemas.microsoft.com/office/drawing/2014/main" id="{A64442C1-E3CE-A825-9B08-D748D401B647}"/>
              </a:ext>
            </a:extLst>
          </p:cNvPr>
          <p:cNvSpPr/>
          <p:nvPr/>
        </p:nvSpPr>
        <p:spPr>
          <a:xfrm>
            <a:off x="5367528" y="26426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API route discovery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A48AC-7BB0-0774-EF66-751C63ED9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80CE08-AF0C-B774-112E-3FA6A8C67505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8685D7-063F-80B8-720C-ECB7937CAB80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Endpoints &amp; Functional Scope</a:t>
            </a:r>
            <a:endParaRPr lang="en-US" sz="2200" dirty="0"/>
          </a:p>
        </p:txBody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785AE852-1DE4-C877-5BA9-AA63281EB820}"/>
              </a:ext>
            </a:extLst>
          </p:cNvPr>
          <p:cNvSpPr/>
          <p:nvPr/>
        </p:nvSpPr>
        <p:spPr>
          <a:xfrm>
            <a:off x="365760" y="1261872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DE9D93C5-D1CD-DE09-CBF4-F71852985ADA}"/>
              </a:ext>
            </a:extLst>
          </p:cNvPr>
          <p:cNvSpPr/>
          <p:nvPr/>
        </p:nvSpPr>
        <p:spPr>
          <a:xfrm>
            <a:off x="365760" y="126187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72E89333-D768-4BCE-78FF-2BF79183B4A4}"/>
              </a:ext>
            </a:extLst>
          </p:cNvPr>
          <p:cNvSpPr/>
          <p:nvPr/>
        </p:nvSpPr>
        <p:spPr>
          <a:xfrm>
            <a:off x="1051560" y="1261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/api/auth/register/</a:t>
            </a:r>
            <a:endParaRPr lang="en-US" sz="950" dirty="0"/>
          </a:p>
        </p:txBody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9A1717E4-296C-EBA8-DAA3-1373DC5DD5D8}"/>
              </a:ext>
            </a:extLst>
          </p:cNvPr>
          <p:cNvSpPr/>
          <p:nvPr/>
        </p:nvSpPr>
        <p:spPr>
          <a:xfrm>
            <a:off x="3017520" y="1261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Register a new user</a:t>
            </a:r>
            <a:endParaRPr lang="en-US" sz="900" dirty="0"/>
          </a:p>
        </p:txBody>
      </p:sp>
      <p:sp>
        <p:nvSpPr>
          <p:cNvPr id="63" name="Text 10">
            <a:extLst>
              <a:ext uri="{FF2B5EF4-FFF2-40B4-BE49-F238E27FC236}">
                <a16:creationId xmlns:a16="http://schemas.microsoft.com/office/drawing/2014/main" id="{55966AC2-EE3E-BE0D-086C-75511896E5B9}"/>
              </a:ext>
            </a:extLst>
          </p:cNvPr>
          <p:cNvSpPr/>
          <p:nvPr/>
        </p:nvSpPr>
        <p:spPr>
          <a:xfrm>
            <a:off x="365760" y="16642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66" name="Shape 3">
            <a:extLst>
              <a:ext uri="{FF2B5EF4-FFF2-40B4-BE49-F238E27FC236}">
                <a16:creationId xmlns:a16="http://schemas.microsoft.com/office/drawing/2014/main" id="{B37FFB43-08A6-409C-D956-A7487A004CD0}"/>
              </a:ext>
            </a:extLst>
          </p:cNvPr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DED67487-8D4E-72FC-F36A-98EBA8A5886D}"/>
              </a:ext>
            </a:extLst>
          </p:cNvPr>
          <p:cNvSpPr/>
          <p:nvPr/>
        </p:nvSpPr>
        <p:spPr>
          <a:xfrm>
            <a:off x="365760" y="804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Authentication</a:t>
            </a:r>
            <a:endParaRPr lang="en-US" sz="1300" dirty="0"/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7D9F0783-21D1-2013-CD4B-C5260A7AD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3" y="2503714"/>
            <a:ext cx="4380841" cy="2598511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C0DFB86C-24F0-C876-969A-CBE3A3C4B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900" y="1261872"/>
            <a:ext cx="4443366" cy="2598511"/>
          </a:xfrm>
          <a:prstGeom prst="rect">
            <a:avLst/>
          </a:prstGeom>
        </p:spPr>
      </p:pic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BE9D9CB5-9EA3-4551-E754-D694A50951C0}"/>
              </a:ext>
            </a:extLst>
          </p:cNvPr>
          <p:cNvSpPr/>
          <p:nvPr/>
        </p:nvSpPr>
        <p:spPr>
          <a:xfrm>
            <a:off x="347980" y="2440940"/>
            <a:ext cx="749300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85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59B0B-F33B-F61C-5E8D-A60ABCFBF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726BD3-B7D7-0CBE-D3E2-44AC4B2B0B6B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3B6FB3-6ED9-63D0-A528-60AA882DF2F9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Endpoints &amp; Functional Scope</a:t>
            </a:r>
            <a:endParaRPr lang="en-US" sz="2200" dirty="0"/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EBDE82E9-72F1-F303-365F-8132A42E6CA3}"/>
              </a:ext>
            </a:extLst>
          </p:cNvPr>
          <p:cNvSpPr/>
          <p:nvPr/>
        </p:nvSpPr>
        <p:spPr>
          <a:xfrm>
            <a:off x="533400" y="14447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63" name="Text 10">
            <a:extLst>
              <a:ext uri="{FF2B5EF4-FFF2-40B4-BE49-F238E27FC236}">
                <a16:creationId xmlns:a16="http://schemas.microsoft.com/office/drawing/2014/main" id="{976C297D-D0A0-851D-9510-18CE68AD4B0D}"/>
              </a:ext>
            </a:extLst>
          </p:cNvPr>
          <p:cNvSpPr/>
          <p:nvPr/>
        </p:nvSpPr>
        <p:spPr>
          <a:xfrm>
            <a:off x="441960" y="13898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C694AF0A-AE52-E442-47F7-553C07A22963}"/>
              </a:ext>
            </a:extLst>
          </p:cNvPr>
          <p:cNvSpPr/>
          <p:nvPr/>
        </p:nvSpPr>
        <p:spPr>
          <a:xfrm>
            <a:off x="365760" y="804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Authentication</a:t>
            </a:r>
            <a:endParaRPr lang="en-US" sz="13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595E2F3-A73E-DDF7-A389-1FB77C65B212}"/>
              </a:ext>
            </a:extLst>
          </p:cNvPr>
          <p:cNvSpPr/>
          <p:nvPr/>
        </p:nvSpPr>
        <p:spPr>
          <a:xfrm>
            <a:off x="533400" y="14447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2D47B6B4-C740-693F-0A52-C7A5C57A6F62}"/>
              </a:ext>
            </a:extLst>
          </p:cNvPr>
          <p:cNvSpPr/>
          <p:nvPr/>
        </p:nvSpPr>
        <p:spPr>
          <a:xfrm>
            <a:off x="441960" y="1389888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D27A8EF2-865C-4CE1-689F-0113ECD6833D}"/>
              </a:ext>
            </a:extLst>
          </p:cNvPr>
          <p:cNvSpPr/>
          <p:nvPr/>
        </p:nvSpPr>
        <p:spPr>
          <a:xfrm>
            <a:off x="441960" y="13898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9CBBA340-BBC6-E07A-5DB0-566110FAAB75}"/>
              </a:ext>
            </a:extLst>
          </p:cNvPr>
          <p:cNvSpPr/>
          <p:nvPr/>
        </p:nvSpPr>
        <p:spPr>
          <a:xfrm>
            <a:off x="1127760" y="13898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</a:t>
            </a:r>
            <a:endParaRPr lang="en-US" sz="95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B616B5C6-A13A-25E1-862C-3F8AEEF33ED8}"/>
              </a:ext>
            </a:extLst>
          </p:cNvPr>
          <p:cNvSpPr/>
          <p:nvPr/>
        </p:nvSpPr>
        <p:spPr>
          <a:xfrm>
            <a:off x="1973580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Obtain auth token</a:t>
            </a:r>
            <a:endParaRPr lang="en-US" sz="9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A8B9968-ED15-2821-CFD5-F26FBC8DC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310" y="1515618"/>
            <a:ext cx="5513070" cy="3307138"/>
          </a:xfrm>
          <a:prstGeom prst="rect">
            <a:avLst/>
          </a:prstGeom>
        </p:spPr>
      </p:pic>
      <p:sp>
        <p:nvSpPr>
          <p:cNvPr id="14" name="Shape 3">
            <a:extLst>
              <a:ext uri="{FF2B5EF4-FFF2-40B4-BE49-F238E27FC236}">
                <a16:creationId xmlns:a16="http://schemas.microsoft.com/office/drawing/2014/main" id="{75BF5B97-EADE-26F2-1AAA-24E59945E615}"/>
              </a:ext>
            </a:extLst>
          </p:cNvPr>
          <p:cNvSpPr/>
          <p:nvPr/>
        </p:nvSpPr>
        <p:spPr>
          <a:xfrm>
            <a:off x="426720" y="950976"/>
            <a:ext cx="4023360" cy="384048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18FE9CC2-D181-CF2F-70D8-282EC558375D}"/>
              </a:ext>
            </a:extLst>
          </p:cNvPr>
          <p:cNvSpPr/>
          <p:nvPr/>
        </p:nvSpPr>
        <p:spPr>
          <a:xfrm>
            <a:off x="518160" y="9570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Authentication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872170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354DD-0CA2-EF97-0B7F-6DD5FA2D8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6">
            <a:extLst>
              <a:ext uri="{FF2B5EF4-FFF2-40B4-BE49-F238E27FC236}">
                <a16:creationId xmlns:a16="http://schemas.microsoft.com/office/drawing/2014/main" id="{302B21E3-BC83-6F54-244B-076CE25FCE46}"/>
              </a:ext>
            </a:extLst>
          </p:cNvPr>
          <p:cNvSpPr/>
          <p:nvPr/>
        </p:nvSpPr>
        <p:spPr>
          <a:xfrm>
            <a:off x="198120" y="1261872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DAED1F8E-E7CD-C655-5103-87AC50E224EC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E5302C-5EB6-10C0-0D87-D8D5AE8DA42D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Endpoints &amp; Functional Scope</a:t>
            </a:r>
            <a:endParaRPr lang="en-US" sz="2200" dirty="0"/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26A88B70-1020-ABCF-050E-041B1857B929}"/>
              </a:ext>
            </a:extLst>
          </p:cNvPr>
          <p:cNvSpPr/>
          <p:nvPr/>
        </p:nvSpPr>
        <p:spPr>
          <a:xfrm>
            <a:off x="365760" y="804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Authentication</a:t>
            </a:r>
            <a:endParaRPr lang="en-US" sz="1300" dirty="0"/>
          </a:p>
        </p:txBody>
      </p:sp>
      <p:sp>
        <p:nvSpPr>
          <p:cNvPr id="4" name="Shape 14">
            <a:extLst>
              <a:ext uri="{FF2B5EF4-FFF2-40B4-BE49-F238E27FC236}">
                <a16:creationId xmlns:a16="http://schemas.microsoft.com/office/drawing/2014/main" id="{1DE88447-1307-BEC2-8CA1-B5F830D28BCE}"/>
              </a:ext>
            </a:extLst>
          </p:cNvPr>
          <p:cNvSpPr/>
          <p:nvPr/>
        </p:nvSpPr>
        <p:spPr>
          <a:xfrm>
            <a:off x="91440" y="804672"/>
            <a:ext cx="402336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1F2E1C16-162A-BFD9-3D67-645A163CE80A}"/>
              </a:ext>
            </a:extLst>
          </p:cNvPr>
          <p:cNvSpPr/>
          <p:nvPr/>
        </p:nvSpPr>
        <p:spPr>
          <a:xfrm>
            <a:off x="182880" y="804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Employee CRUD</a:t>
            </a:r>
            <a:endParaRPr lang="en-US" sz="1300" dirty="0"/>
          </a:p>
        </p:txBody>
      </p:sp>
      <p:sp>
        <p:nvSpPr>
          <p:cNvPr id="7" name="Text 17">
            <a:extLst>
              <a:ext uri="{FF2B5EF4-FFF2-40B4-BE49-F238E27FC236}">
                <a16:creationId xmlns:a16="http://schemas.microsoft.com/office/drawing/2014/main" id="{BB245E98-7F02-7DBC-C147-81301FD95577}"/>
              </a:ext>
            </a:extLst>
          </p:cNvPr>
          <p:cNvSpPr/>
          <p:nvPr/>
        </p:nvSpPr>
        <p:spPr>
          <a:xfrm>
            <a:off x="182880" y="126187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08E5A17B-5776-D633-4D5B-5EB2889AB6B8}"/>
              </a:ext>
            </a:extLst>
          </p:cNvPr>
          <p:cNvSpPr/>
          <p:nvPr/>
        </p:nvSpPr>
        <p:spPr>
          <a:xfrm>
            <a:off x="886968" y="1261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/api/employees/</a:t>
            </a:r>
            <a:endParaRPr lang="en-US" sz="900" dirty="0"/>
          </a:p>
        </p:txBody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7175DBE3-9E14-2AB2-AD1C-51700CA7CB6F}"/>
              </a:ext>
            </a:extLst>
          </p:cNvPr>
          <p:cNvSpPr/>
          <p:nvPr/>
        </p:nvSpPr>
        <p:spPr>
          <a:xfrm>
            <a:off x="2852928" y="1261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List all employees</a:t>
            </a:r>
            <a:endParaRPr lang="en-US" sz="9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85D24DEF-FC99-6106-7C0C-F9EE7FC96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671" y="1572768"/>
            <a:ext cx="5133137" cy="334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87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753AF-BA74-4DE1-3E00-8BE45F69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569FB1-EE69-530F-7941-2A9ADF8E79A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DE5847-D4BE-8FCB-786C-6B95E2C87220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Endpoints &amp; Functional Scope</a:t>
            </a:r>
            <a:endParaRPr lang="en-US" sz="2200" dirty="0"/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BC60C4DA-BE8C-CDCE-38CB-07EA566135FD}"/>
              </a:ext>
            </a:extLst>
          </p:cNvPr>
          <p:cNvSpPr/>
          <p:nvPr/>
        </p:nvSpPr>
        <p:spPr>
          <a:xfrm>
            <a:off x="365760" y="804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Authentication</a:t>
            </a:r>
            <a:endParaRPr lang="en-US" sz="1300" dirty="0"/>
          </a:p>
        </p:txBody>
      </p:sp>
      <p:sp>
        <p:nvSpPr>
          <p:cNvPr id="4" name="Shape 14">
            <a:extLst>
              <a:ext uri="{FF2B5EF4-FFF2-40B4-BE49-F238E27FC236}">
                <a16:creationId xmlns:a16="http://schemas.microsoft.com/office/drawing/2014/main" id="{8653727D-3710-D4CF-1786-E7776DDA151D}"/>
              </a:ext>
            </a:extLst>
          </p:cNvPr>
          <p:cNvSpPr/>
          <p:nvPr/>
        </p:nvSpPr>
        <p:spPr>
          <a:xfrm>
            <a:off x="91440" y="804672"/>
            <a:ext cx="402336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0CE7C583-29B8-3CFB-3E14-7C8829F103F7}"/>
              </a:ext>
            </a:extLst>
          </p:cNvPr>
          <p:cNvSpPr/>
          <p:nvPr/>
        </p:nvSpPr>
        <p:spPr>
          <a:xfrm>
            <a:off x="182880" y="804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Employee CRUD</a:t>
            </a:r>
            <a:endParaRPr lang="en-US" sz="1300" dirty="0"/>
          </a:p>
        </p:txBody>
      </p:sp>
      <p:sp>
        <p:nvSpPr>
          <p:cNvPr id="7" name="Text 17">
            <a:extLst>
              <a:ext uri="{FF2B5EF4-FFF2-40B4-BE49-F238E27FC236}">
                <a16:creationId xmlns:a16="http://schemas.microsoft.com/office/drawing/2014/main" id="{91A0D2CF-CFAC-653A-5736-80FEFC4C6A7C}"/>
              </a:ext>
            </a:extLst>
          </p:cNvPr>
          <p:cNvSpPr/>
          <p:nvPr/>
        </p:nvSpPr>
        <p:spPr>
          <a:xfrm>
            <a:off x="182880" y="126187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5" name="Shape 20">
            <a:extLst>
              <a:ext uri="{FF2B5EF4-FFF2-40B4-BE49-F238E27FC236}">
                <a16:creationId xmlns:a16="http://schemas.microsoft.com/office/drawing/2014/main" id="{B7E785B5-0C26-5F5C-912F-4AC664D154E2}"/>
              </a:ext>
            </a:extLst>
          </p:cNvPr>
          <p:cNvSpPr/>
          <p:nvPr/>
        </p:nvSpPr>
        <p:spPr>
          <a:xfrm>
            <a:off x="164592" y="1261872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21">
            <a:extLst>
              <a:ext uri="{FF2B5EF4-FFF2-40B4-BE49-F238E27FC236}">
                <a16:creationId xmlns:a16="http://schemas.microsoft.com/office/drawing/2014/main" id="{0A605A53-4D70-D039-DC2E-177116DC37E0}"/>
              </a:ext>
            </a:extLst>
          </p:cNvPr>
          <p:cNvSpPr/>
          <p:nvPr/>
        </p:nvSpPr>
        <p:spPr>
          <a:xfrm>
            <a:off x="164592" y="126187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9" name="Text 22">
            <a:extLst>
              <a:ext uri="{FF2B5EF4-FFF2-40B4-BE49-F238E27FC236}">
                <a16:creationId xmlns:a16="http://schemas.microsoft.com/office/drawing/2014/main" id="{7E456B52-2279-35E5-A039-4ACB464CC6CF}"/>
              </a:ext>
            </a:extLst>
          </p:cNvPr>
          <p:cNvSpPr/>
          <p:nvPr/>
        </p:nvSpPr>
        <p:spPr>
          <a:xfrm>
            <a:off x="868680" y="1261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/api/employees/</a:t>
            </a:r>
            <a:endParaRPr lang="en-US" sz="900" dirty="0"/>
          </a:p>
        </p:txBody>
      </p:sp>
      <p:sp>
        <p:nvSpPr>
          <p:cNvPr id="10" name="Text 23">
            <a:extLst>
              <a:ext uri="{FF2B5EF4-FFF2-40B4-BE49-F238E27FC236}">
                <a16:creationId xmlns:a16="http://schemas.microsoft.com/office/drawing/2014/main" id="{EBFABA12-2AE3-3764-7517-52ECC56364A9}"/>
              </a:ext>
            </a:extLst>
          </p:cNvPr>
          <p:cNvSpPr/>
          <p:nvPr/>
        </p:nvSpPr>
        <p:spPr>
          <a:xfrm>
            <a:off x="2834640" y="1261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Create employee</a:t>
            </a:r>
            <a:endParaRPr lang="en-US" sz="9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3AF1511-C966-DC21-78AA-E9BE27734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1" y="2283715"/>
            <a:ext cx="4557039" cy="261104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4C0590A-A2B9-FE50-DD83-F753C0612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333" y="2438400"/>
            <a:ext cx="4318586" cy="227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174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5EFF8-9D99-9931-CCB9-4280468AE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D905F5-9915-2D82-8ADC-3FDAACE05922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B4836B-0822-61C0-330A-0604172F81F2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Endpoints &amp; Functional Scope</a:t>
            </a:r>
            <a:endParaRPr lang="en-US" sz="2200" dirty="0"/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9BFDD222-CD8F-97BE-F410-F78505539BF0}"/>
              </a:ext>
            </a:extLst>
          </p:cNvPr>
          <p:cNvSpPr/>
          <p:nvPr/>
        </p:nvSpPr>
        <p:spPr>
          <a:xfrm>
            <a:off x="365760" y="804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Authentication</a:t>
            </a:r>
            <a:endParaRPr lang="en-US" sz="1300" dirty="0"/>
          </a:p>
        </p:txBody>
      </p:sp>
      <p:sp>
        <p:nvSpPr>
          <p:cNvPr id="4" name="Shape 14">
            <a:extLst>
              <a:ext uri="{FF2B5EF4-FFF2-40B4-BE49-F238E27FC236}">
                <a16:creationId xmlns:a16="http://schemas.microsoft.com/office/drawing/2014/main" id="{EF20AE8A-844C-B9A6-AE91-7183CCA9A4EB}"/>
              </a:ext>
            </a:extLst>
          </p:cNvPr>
          <p:cNvSpPr/>
          <p:nvPr/>
        </p:nvSpPr>
        <p:spPr>
          <a:xfrm>
            <a:off x="91440" y="804672"/>
            <a:ext cx="402336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4E145142-47E7-48B8-0E7E-9DD656C96DFD}"/>
              </a:ext>
            </a:extLst>
          </p:cNvPr>
          <p:cNvSpPr/>
          <p:nvPr/>
        </p:nvSpPr>
        <p:spPr>
          <a:xfrm>
            <a:off x="182880" y="804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Employee CRUD</a:t>
            </a:r>
            <a:endParaRPr lang="en-US" sz="1300" dirty="0"/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6856B55D-B0DC-23F6-8D63-A40CED768B21}"/>
              </a:ext>
            </a:extLst>
          </p:cNvPr>
          <p:cNvSpPr/>
          <p:nvPr/>
        </p:nvSpPr>
        <p:spPr>
          <a:xfrm>
            <a:off x="256032" y="1293876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6F82B9BB-CF03-39F5-CFA5-FBF482C76FEF}"/>
              </a:ext>
            </a:extLst>
          </p:cNvPr>
          <p:cNvSpPr/>
          <p:nvPr/>
        </p:nvSpPr>
        <p:spPr>
          <a:xfrm>
            <a:off x="960120" y="12938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/api/employees/{id}/</a:t>
            </a:r>
            <a:endParaRPr lang="en-US" sz="900" dirty="0"/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2642BE3B-1A18-AAC1-8A7A-48B91DD2BC9B}"/>
              </a:ext>
            </a:extLst>
          </p:cNvPr>
          <p:cNvSpPr/>
          <p:nvPr/>
        </p:nvSpPr>
        <p:spPr>
          <a:xfrm>
            <a:off x="2926080" y="12938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Retrieve employee</a:t>
            </a:r>
            <a:endParaRPr lang="en-US" sz="9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1013B89B-D898-8391-3DF1-46F6A69B3EA7}"/>
              </a:ext>
            </a:extLst>
          </p:cNvPr>
          <p:cNvSpPr/>
          <p:nvPr/>
        </p:nvSpPr>
        <p:spPr>
          <a:xfrm>
            <a:off x="256032" y="12938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DB77BA4-3EFF-9E5F-4897-B97AC4713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660" y="1636776"/>
            <a:ext cx="6521650" cy="3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889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2F0AD-DF88-C2BB-0345-ED832B4B6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7621099-4214-C8E8-4DAC-86A33549A3C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145069-F9F6-CF3D-55F0-74140266403C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Endpoints &amp; Functional Scope</a:t>
            </a:r>
            <a:endParaRPr lang="en-US" sz="2200" dirty="0"/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CAD789B3-E49F-3976-3087-D6B56F03B046}"/>
              </a:ext>
            </a:extLst>
          </p:cNvPr>
          <p:cNvSpPr/>
          <p:nvPr/>
        </p:nvSpPr>
        <p:spPr>
          <a:xfrm>
            <a:off x="365760" y="804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Authentication</a:t>
            </a:r>
            <a:endParaRPr lang="en-US" sz="1300" dirty="0"/>
          </a:p>
        </p:txBody>
      </p:sp>
      <p:sp>
        <p:nvSpPr>
          <p:cNvPr id="4" name="Shape 14">
            <a:extLst>
              <a:ext uri="{FF2B5EF4-FFF2-40B4-BE49-F238E27FC236}">
                <a16:creationId xmlns:a16="http://schemas.microsoft.com/office/drawing/2014/main" id="{F83C7B53-F5B9-79FE-12AE-29A8DFBD79F5}"/>
              </a:ext>
            </a:extLst>
          </p:cNvPr>
          <p:cNvSpPr/>
          <p:nvPr/>
        </p:nvSpPr>
        <p:spPr>
          <a:xfrm>
            <a:off x="91440" y="804672"/>
            <a:ext cx="402336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672C0491-E0A5-7729-425B-777689657C5A}"/>
              </a:ext>
            </a:extLst>
          </p:cNvPr>
          <p:cNvSpPr/>
          <p:nvPr/>
        </p:nvSpPr>
        <p:spPr>
          <a:xfrm>
            <a:off x="182880" y="804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Employee CRUD</a:t>
            </a:r>
            <a:endParaRPr lang="en-US" sz="1300" dirty="0"/>
          </a:p>
        </p:txBody>
      </p:sp>
      <p:sp>
        <p:nvSpPr>
          <p:cNvPr id="5" name="Shape 28">
            <a:extLst>
              <a:ext uri="{FF2B5EF4-FFF2-40B4-BE49-F238E27FC236}">
                <a16:creationId xmlns:a16="http://schemas.microsoft.com/office/drawing/2014/main" id="{17BCD00A-9C7E-7F30-5951-711A957FEAFE}"/>
              </a:ext>
            </a:extLst>
          </p:cNvPr>
          <p:cNvSpPr/>
          <p:nvPr/>
        </p:nvSpPr>
        <p:spPr>
          <a:xfrm>
            <a:off x="256032" y="1306068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29">
            <a:extLst>
              <a:ext uri="{FF2B5EF4-FFF2-40B4-BE49-F238E27FC236}">
                <a16:creationId xmlns:a16="http://schemas.microsoft.com/office/drawing/2014/main" id="{F2612462-CB2F-453A-8984-96070F55413B}"/>
              </a:ext>
            </a:extLst>
          </p:cNvPr>
          <p:cNvSpPr/>
          <p:nvPr/>
        </p:nvSpPr>
        <p:spPr>
          <a:xfrm>
            <a:off x="256032" y="130606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800" b="1" dirty="0">
                <a:solidFill>
                  <a:srgbClr val="FFFFFF"/>
                </a:solidFill>
              </a:rPr>
              <a:t>PATCH</a:t>
            </a:r>
            <a:endParaRPr lang="en-US" sz="800" dirty="0"/>
          </a:p>
        </p:txBody>
      </p:sp>
      <p:sp>
        <p:nvSpPr>
          <p:cNvPr id="9" name="Text 30">
            <a:extLst>
              <a:ext uri="{FF2B5EF4-FFF2-40B4-BE49-F238E27FC236}">
                <a16:creationId xmlns:a16="http://schemas.microsoft.com/office/drawing/2014/main" id="{6C0C3756-8346-277F-3FA1-1BD17296625C}"/>
              </a:ext>
            </a:extLst>
          </p:cNvPr>
          <p:cNvSpPr/>
          <p:nvPr/>
        </p:nvSpPr>
        <p:spPr>
          <a:xfrm>
            <a:off x="960120" y="13060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/api/employees/{id}/</a:t>
            </a:r>
            <a:endParaRPr lang="en-US" sz="9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28C78C8-1BF4-34AD-9196-728B8C388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9885"/>
            <a:ext cx="4482199" cy="247215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5987C06-92C4-F977-3142-9B869C8E1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334" y="1424940"/>
            <a:ext cx="4294686" cy="2529240"/>
          </a:xfrm>
          <a:prstGeom prst="rect">
            <a:avLst/>
          </a:prstGeom>
        </p:spPr>
      </p:pic>
      <p:sp>
        <p:nvSpPr>
          <p:cNvPr id="18" name="Text 35">
            <a:extLst>
              <a:ext uri="{FF2B5EF4-FFF2-40B4-BE49-F238E27FC236}">
                <a16:creationId xmlns:a16="http://schemas.microsoft.com/office/drawing/2014/main" id="{5BDF938A-B139-2F1C-E255-19D37AA9BD56}"/>
              </a:ext>
            </a:extLst>
          </p:cNvPr>
          <p:cNvSpPr/>
          <p:nvPr/>
        </p:nvSpPr>
        <p:spPr>
          <a:xfrm>
            <a:off x="2926080" y="13060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Partial update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98113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2D7B-C7ED-B01C-D785-AF7E81C47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F7E9D9-5F13-9D84-4EBB-B183F291D1D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692D75-9C44-7289-BC47-4C0B67AA6C6D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Endpoints &amp; Functional Scope</a:t>
            </a:r>
            <a:endParaRPr lang="en-US" sz="2200" dirty="0"/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1D753FF7-A1B5-3C52-2D72-5B18CB6DAD4A}"/>
              </a:ext>
            </a:extLst>
          </p:cNvPr>
          <p:cNvSpPr/>
          <p:nvPr/>
        </p:nvSpPr>
        <p:spPr>
          <a:xfrm>
            <a:off x="365760" y="804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Authentication</a:t>
            </a:r>
            <a:endParaRPr lang="en-US" sz="1300" dirty="0"/>
          </a:p>
        </p:txBody>
      </p:sp>
      <p:sp>
        <p:nvSpPr>
          <p:cNvPr id="4" name="Shape 14">
            <a:extLst>
              <a:ext uri="{FF2B5EF4-FFF2-40B4-BE49-F238E27FC236}">
                <a16:creationId xmlns:a16="http://schemas.microsoft.com/office/drawing/2014/main" id="{4774FD10-026B-7F79-5744-0F7F882A2422}"/>
              </a:ext>
            </a:extLst>
          </p:cNvPr>
          <p:cNvSpPr/>
          <p:nvPr/>
        </p:nvSpPr>
        <p:spPr>
          <a:xfrm>
            <a:off x="91440" y="804672"/>
            <a:ext cx="402336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8C321E8F-7680-E8BF-0771-45FB573D22C6}"/>
              </a:ext>
            </a:extLst>
          </p:cNvPr>
          <p:cNvSpPr/>
          <p:nvPr/>
        </p:nvSpPr>
        <p:spPr>
          <a:xfrm>
            <a:off x="182880" y="804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Employee CRUD</a:t>
            </a:r>
            <a:endParaRPr lang="en-US" sz="1300" dirty="0"/>
          </a:p>
        </p:txBody>
      </p:sp>
      <p:sp>
        <p:nvSpPr>
          <p:cNvPr id="7" name="Text 17">
            <a:extLst>
              <a:ext uri="{FF2B5EF4-FFF2-40B4-BE49-F238E27FC236}">
                <a16:creationId xmlns:a16="http://schemas.microsoft.com/office/drawing/2014/main" id="{F980CD97-9E77-0F1E-EF4D-8177E844CD27}"/>
              </a:ext>
            </a:extLst>
          </p:cNvPr>
          <p:cNvSpPr/>
          <p:nvPr/>
        </p:nvSpPr>
        <p:spPr>
          <a:xfrm>
            <a:off x="182880" y="126187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5" name="Shape 28">
            <a:extLst>
              <a:ext uri="{FF2B5EF4-FFF2-40B4-BE49-F238E27FC236}">
                <a16:creationId xmlns:a16="http://schemas.microsoft.com/office/drawing/2014/main" id="{4FB5FE14-80A2-81F0-984B-5EE1FC54BB79}"/>
              </a:ext>
            </a:extLst>
          </p:cNvPr>
          <p:cNvSpPr/>
          <p:nvPr/>
        </p:nvSpPr>
        <p:spPr>
          <a:xfrm>
            <a:off x="182880" y="1261872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29">
            <a:extLst>
              <a:ext uri="{FF2B5EF4-FFF2-40B4-BE49-F238E27FC236}">
                <a16:creationId xmlns:a16="http://schemas.microsoft.com/office/drawing/2014/main" id="{C38974F0-D275-3E4E-A42B-04EAE1B1F2AC}"/>
              </a:ext>
            </a:extLst>
          </p:cNvPr>
          <p:cNvSpPr/>
          <p:nvPr/>
        </p:nvSpPr>
        <p:spPr>
          <a:xfrm>
            <a:off x="182880" y="126187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PUT</a:t>
            </a:r>
            <a:endParaRPr lang="en-US" sz="800" dirty="0"/>
          </a:p>
        </p:txBody>
      </p:sp>
      <p:sp>
        <p:nvSpPr>
          <p:cNvPr id="9" name="Text 30">
            <a:extLst>
              <a:ext uri="{FF2B5EF4-FFF2-40B4-BE49-F238E27FC236}">
                <a16:creationId xmlns:a16="http://schemas.microsoft.com/office/drawing/2014/main" id="{887D850B-301D-9AEF-4CC7-5EB85BE01613}"/>
              </a:ext>
            </a:extLst>
          </p:cNvPr>
          <p:cNvSpPr/>
          <p:nvPr/>
        </p:nvSpPr>
        <p:spPr>
          <a:xfrm>
            <a:off x="886968" y="1261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/api/employees/{id}/</a:t>
            </a:r>
            <a:endParaRPr lang="en-US" sz="900" dirty="0"/>
          </a:p>
        </p:txBody>
      </p:sp>
      <p:sp>
        <p:nvSpPr>
          <p:cNvPr id="10" name="Text 31">
            <a:extLst>
              <a:ext uri="{FF2B5EF4-FFF2-40B4-BE49-F238E27FC236}">
                <a16:creationId xmlns:a16="http://schemas.microsoft.com/office/drawing/2014/main" id="{CFE1FD31-9F14-61E0-7782-E1D51A0EA20F}"/>
              </a:ext>
            </a:extLst>
          </p:cNvPr>
          <p:cNvSpPr/>
          <p:nvPr/>
        </p:nvSpPr>
        <p:spPr>
          <a:xfrm>
            <a:off x="2852928" y="1261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Full update</a:t>
            </a:r>
            <a:endParaRPr lang="en-US" sz="9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AC7BA23-1687-3B6E-D87A-2A4300D4F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29" y="1859660"/>
            <a:ext cx="4985780" cy="300951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1CFBFB6-07C3-0D54-13A6-DBC348DC3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4389" y="996696"/>
            <a:ext cx="3563244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77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E3DF6-F858-5D43-E302-9B73BFDA7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6">
            <a:extLst>
              <a:ext uri="{FF2B5EF4-FFF2-40B4-BE49-F238E27FC236}">
                <a16:creationId xmlns:a16="http://schemas.microsoft.com/office/drawing/2014/main" id="{F8E1403F-0E62-05F4-0F57-F2777CF16F49}"/>
              </a:ext>
            </a:extLst>
          </p:cNvPr>
          <p:cNvSpPr/>
          <p:nvPr/>
        </p:nvSpPr>
        <p:spPr>
          <a:xfrm>
            <a:off x="243840" y="1226820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83EEE9A-ED07-0931-2289-F8B87495A9D7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90D1B9-AD9B-B98D-A758-207827FD12E5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Endpoints &amp; Functional Scope</a:t>
            </a:r>
            <a:endParaRPr lang="en-US" sz="2200" dirty="0"/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3ACAD3D9-BE61-CD3D-5494-0E8C5C3DEE8E}"/>
              </a:ext>
            </a:extLst>
          </p:cNvPr>
          <p:cNvSpPr/>
          <p:nvPr/>
        </p:nvSpPr>
        <p:spPr>
          <a:xfrm>
            <a:off x="365760" y="804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Authentication</a:t>
            </a:r>
            <a:endParaRPr lang="en-US" sz="1300" dirty="0"/>
          </a:p>
        </p:txBody>
      </p:sp>
      <p:sp>
        <p:nvSpPr>
          <p:cNvPr id="4" name="Shape 14">
            <a:extLst>
              <a:ext uri="{FF2B5EF4-FFF2-40B4-BE49-F238E27FC236}">
                <a16:creationId xmlns:a16="http://schemas.microsoft.com/office/drawing/2014/main" id="{2B15F352-AB29-A70A-A54B-A9D24F9A301C}"/>
              </a:ext>
            </a:extLst>
          </p:cNvPr>
          <p:cNvSpPr/>
          <p:nvPr/>
        </p:nvSpPr>
        <p:spPr>
          <a:xfrm>
            <a:off x="91440" y="804672"/>
            <a:ext cx="402336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D87D343B-164C-4A4C-CBA9-A6C10A8184A2}"/>
              </a:ext>
            </a:extLst>
          </p:cNvPr>
          <p:cNvSpPr/>
          <p:nvPr/>
        </p:nvSpPr>
        <p:spPr>
          <a:xfrm>
            <a:off x="182880" y="804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Employee CRUD</a:t>
            </a:r>
            <a:endParaRPr lang="en-US" sz="1300" dirty="0"/>
          </a:p>
        </p:txBody>
      </p:sp>
      <p:sp>
        <p:nvSpPr>
          <p:cNvPr id="5" name="Text 37">
            <a:extLst>
              <a:ext uri="{FF2B5EF4-FFF2-40B4-BE49-F238E27FC236}">
                <a16:creationId xmlns:a16="http://schemas.microsoft.com/office/drawing/2014/main" id="{DC9D6A26-6447-F1CB-E3E5-E7EC27944321}"/>
              </a:ext>
            </a:extLst>
          </p:cNvPr>
          <p:cNvSpPr/>
          <p:nvPr/>
        </p:nvSpPr>
        <p:spPr>
          <a:xfrm>
            <a:off x="256032" y="122682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DELETE</a:t>
            </a:r>
            <a:endParaRPr lang="en-US" sz="800" dirty="0"/>
          </a:p>
        </p:txBody>
      </p:sp>
      <p:sp>
        <p:nvSpPr>
          <p:cNvPr id="8" name="Text 38">
            <a:extLst>
              <a:ext uri="{FF2B5EF4-FFF2-40B4-BE49-F238E27FC236}">
                <a16:creationId xmlns:a16="http://schemas.microsoft.com/office/drawing/2014/main" id="{E14BEC8D-5F00-A9BE-48D6-BF3546E2ACEF}"/>
              </a:ext>
            </a:extLst>
          </p:cNvPr>
          <p:cNvSpPr/>
          <p:nvPr/>
        </p:nvSpPr>
        <p:spPr>
          <a:xfrm>
            <a:off x="960120" y="12268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/api/employees/{id}/</a:t>
            </a:r>
            <a:endParaRPr lang="en-US" sz="900" dirty="0"/>
          </a:p>
        </p:txBody>
      </p:sp>
      <p:sp>
        <p:nvSpPr>
          <p:cNvPr id="9" name="Text 39">
            <a:extLst>
              <a:ext uri="{FF2B5EF4-FFF2-40B4-BE49-F238E27FC236}">
                <a16:creationId xmlns:a16="http://schemas.microsoft.com/office/drawing/2014/main" id="{728C0D1A-20FA-23EC-B1F3-A7D8AB961A6C}"/>
              </a:ext>
            </a:extLst>
          </p:cNvPr>
          <p:cNvSpPr/>
          <p:nvPr/>
        </p:nvSpPr>
        <p:spPr>
          <a:xfrm>
            <a:off x="2926080" y="12268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Delete employee</a:t>
            </a:r>
            <a:endParaRPr lang="en-US" sz="9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1D0A375-A639-BB76-0A3F-F4A80D764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091" y="606351"/>
            <a:ext cx="4494003" cy="242640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2F9CB24-F909-8067-F949-3777CF707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" y="2826043"/>
            <a:ext cx="5771589" cy="218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7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C7A6E-43CD-52EC-3CCE-B9FA3D94A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147E5B-97F7-2998-B904-D497B129C6C1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D2FC46-F623-494D-35BF-16A1BB415118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Endpoints &amp; Functional Scope</a:t>
            </a:r>
            <a:endParaRPr lang="en-US" sz="22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6CF9215-5F32-1D6B-A0E2-C359AE40B6DF}"/>
              </a:ext>
            </a:extLst>
          </p:cNvPr>
          <p:cNvSpPr/>
          <p:nvPr/>
        </p:nvSpPr>
        <p:spPr>
          <a:xfrm>
            <a:off x="60960" y="1189882"/>
            <a:ext cx="4297680" cy="6297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1">
            <a:extLst>
              <a:ext uri="{FF2B5EF4-FFF2-40B4-BE49-F238E27FC236}">
                <a16:creationId xmlns:a16="http://schemas.microsoft.com/office/drawing/2014/main" id="{0D44FF14-74A1-E9D3-0EE5-6B31971EDEE2}"/>
              </a:ext>
            </a:extLst>
          </p:cNvPr>
          <p:cNvSpPr/>
          <p:nvPr/>
        </p:nvSpPr>
        <p:spPr>
          <a:xfrm>
            <a:off x="60960" y="795529"/>
            <a:ext cx="4297680" cy="38404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42">
            <a:extLst>
              <a:ext uri="{FF2B5EF4-FFF2-40B4-BE49-F238E27FC236}">
                <a16:creationId xmlns:a16="http://schemas.microsoft.com/office/drawing/2014/main" id="{B12A0D37-57CC-3437-DE23-134A45D6BF53}"/>
              </a:ext>
            </a:extLst>
          </p:cNvPr>
          <p:cNvSpPr/>
          <p:nvPr/>
        </p:nvSpPr>
        <p:spPr>
          <a:xfrm>
            <a:off x="152400" y="795529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Extended Endpoints</a:t>
            </a:r>
            <a:endParaRPr lang="en-US" sz="1300" dirty="0"/>
          </a:p>
        </p:txBody>
      </p:sp>
      <p:sp>
        <p:nvSpPr>
          <p:cNvPr id="10" name="Shape 43">
            <a:extLst>
              <a:ext uri="{FF2B5EF4-FFF2-40B4-BE49-F238E27FC236}">
                <a16:creationId xmlns:a16="http://schemas.microsoft.com/office/drawing/2014/main" id="{73480A54-7E28-2BC4-454C-5166EF8050FC}"/>
              </a:ext>
            </a:extLst>
          </p:cNvPr>
          <p:cNvSpPr/>
          <p:nvPr/>
        </p:nvSpPr>
        <p:spPr>
          <a:xfrm>
            <a:off x="152400" y="1271017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44">
            <a:extLst>
              <a:ext uri="{FF2B5EF4-FFF2-40B4-BE49-F238E27FC236}">
                <a16:creationId xmlns:a16="http://schemas.microsoft.com/office/drawing/2014/main" id="{EF067075-E4D8-D992-94B3-1D572ABDCFD0}"/>
              </a:ext>
            </a:extLst>
          </p:cNvPr>
          <p:cNvSpPr/>
          <p:nvPr/>
        </p:nvSpPr>
        <p:spPr>
          <a:xfrm>
            <a:off x="152400" y="1271017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13" name="Text 45">
            <a:extLst>
              <a:ext uri="{FF2B5EF4-FFF2-40B4-BE49-F238E27FC236}">
                <a16:creationId xmlns:a16="http://schemas.microsoft.com/office/drawing/2014/main" id="{DCA1BC54-878F-4BDF-9677-5E03CFF21B02}"/>
              </a:ext>
            </a:extLst>
          </p:cNvPr>
          <p:cNvSpPr/>
          <p:nvPr/>
        </p:nvSpPr>
        <p:spPr>
          <a:xfrm>
            <a:off x="856488" y="1271017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/api/employees/search/</a:t>
            </a:r>
            <a:endParaRPr lang="en-US" sz="950" dirty="0"/>
          </a:p>
        </p:txBody>
      </p:sp>
      <p:sp>
        <p:nvSpPr>
          <p:cNvPr id="14" name="Text 46">
            <a:extLst>
              <a:ext uri="{FF2B5EF4-FFF2-40B4-BE49-F238E27FC236}">
                <a16:creationId xmlns:a16="http://schemas.microsoft.com/office/drawing/2014/main" id="{FEB64E94-C435-4FBD-F458-AE5513774707}"/>
              </a:ext>
            </a:extLst>
          </p:cNvPr>
          <p:cNvSpPr/>
          <p:nvPr/>
        </p:nvSpPr>
        <p:spPr>
          <a:xfrm>
            <a:off x="856488" y="1536193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Search employees</a:t>
            </a:r>
            <a:endParaRPr lang="en-US" sz="900" dirty="0"/>
          </a:p>
        </p:txBody>
      </p:sp>
      <p:sp>
        <p:nvSpPr>
          <p:cNvPr id="18" name="Text 48">
            <a:extLst>
              <a:ext uri="{FF2B5EF4-FFF2-40B4-BE49-F238E27FC236}">
                <a16:creationId xmlns:a16="http://schemas.microsoft.com/office/drawing/2014/main" id="{2D02BF0E-B78E-ABE7-6901-F7DB048C508B}"/>
              </a:ext>
            </a:extLst>
          </p:cNvPr>
          <p:cNvSpPr/>
          <p:nvPr/>
        </p:nvSpPr>
        <p:spPr>
          <a:xfrm>
            <a:off x="152400" y="1819657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GT</a:t>
            </a:r>
            <a:endParaRPr lang="en-US" sz="850" dirty="0"/>
          </a:p>
        </p:txBody>
      </p:sp>
      <p:sp>
        <p:nvSpPr>
          <p:cNvPr id="22" name="Text 52">
            <a:extLst>
              <a:ext uri="{FF2B5EF4-FFF2-40B4-BE49-F238E27FC236}">
                <a16:creationId xmlns:a16="http://schemas.microsoft.com/office/drawing/2014/main" id="{C8D16206-FC06-34D4-E9CF-CA8BD33C2698}"/>
              </a:ext>
            </a:extLst>
          </p:cNvPr>
          <p:cNvSpPr/>
          <p:nvPr/>
        </p:nvSpPr>
        <p:spPr>
          <a:xfrm>
            <a:off x="152400" y="2368297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E22FF5C-1B27-91D6-551B-ED58FCBB8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" y="2259957"/>
            <a:ext cx="4617720" cy="276579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4F653C55-7A36-EFF6-A619-B94D8F811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168" y="685800"/>
            <a:ext cx="3416844" cy="423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741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83E0D-8496-94BB-EBFC-2117796B7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AC6ECD-C11A-A10D-6D3D-057C65291A66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E826A2-0D0B-8CEE-728C-6943A8F07670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Endpoints &amp; Functional Scope</a:t>
            </a:r>
            <a:endParaRPr lang="en-US" sz="22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B27F027-0705-AA3B-65EE-6EADEC023740}"/>
              </a:ext>
            </a:extLst>
          </p:cNvPr>
          <p:cNvSpPr/>
          <p:nvPr/>
        </p:nvSpPr>
        <p:spPr>
          <a:xfrm>
            <a:off x="60960" y="1189881"/>
            <a:ext cx="4297680" cy="51395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1">
            <a:extLst>
              <a:ext uri="{FF2B5EF4-FFF2-40B4-BE49-F238E27FC236}">
                <a16:creationId xmlns:a16="http://schemas.microsoft.com/office/drawing/2014/main" id="{51C501BC-3A53-24DB-7E77-0394008C95B1}"/>
              </a:ext>
            </a:extLst>
          </p:cNvPr>
          <p:cNvSpPr/>
          <p:nvPr/>
        </p:nvSpPr>
        <p:spPr>
          <a:xfrm>
            <a:off x="60960" y="795529"/>
            <a:ext cx="4297680" cy="38404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42">
            <a:extLst>
              <a:ext uri="{FF2B5EF4-FFF2-40B4-BE49-F238E27FC236}">
                <a16:creationId xmlns:a16="http://schemas.microsoft.com/office/drawing/2014/main" id="{D9EE4608-833C-27D6-95E5-4798BFA80232}"/>
              </a:ext>
            </a:extLst>
          </p:cNvPr>
          <p:cNvSpPr/>
          <p:nvPr/>
        </p:nvSpPr>
        <p:spPr>
          <a:xfrm>
            <a:off x="152400" y="795529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Extended Endpoints</a:t>
            </a:r>
            <a:endParaRPr lang="en-US" sz="1300" dirty="0"/>
          </a:p>
        </p:txBody>
      </p:sp>
      <p:sp>
        <p:nvSpPr>
          <p:cNvPr id="11" name="Text 44">
            <a:extLst>
              <a:ext uri="{FF2B5EF4-FFF2-40B4-BE49-F238E27FC236}">
                <a16:creationId xmlns:a16="http://schemas.microsoft.com/office/drawing/2014/main" id="{89C183F3-246F-7DD9-136B-6B56B31214D5}"/>
              </a:ext>
            </a:extLst>
          </p:cNvPr>
          <p:cNvSpPr/>
          <p:nvPr/>
        </p:nvSpPr>
        <p:spPr>
          <a:xfrm>
            <a:off x="152400" y="1271017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16" name="Shape 47">
            <a:extLst>
              <a:ext uri="{FF2B5EF4-FFF2-40B4-BE49-F238E27FC236}">
                <a16:creationId xmlns:a16="http://schemas.microsoft.com/office/drawing/2014/main" id="{8463478A-B66B-B0A0-40A6-B3EF61770ACB}"/>
              </a:ext>
            </a:extLst>
          </p:cNvPr>
          <p:cNvSpPr/>
          <p:nvPr/>
        </p:nvSpPr>
        <p:spPr>
          <a:xfrm>
            <a:off x="106680" y="121920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48">
            <a:extLst>
              <a:ext uri="{FF2B5EF4-FFF2-40B4-BE49-F238E27FC236}">
                <a16:creationId xmlns:a16="http://schemas.microsoft.com/office/drawing/2014/main" id="{DEBD5146-B032-5C44-D344-152ECB702732}"/>
              </a:ext>
            </a:extLst>
          </p:cNvPr>
          <p:cNvSpPr/>
          <p:nvPr/>
        </p:nvSpPr>
        <p:spPr>
          <a:xfrm>
            <a:off x="106680" y="121920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19" name="Text 49">
            <a:extLst>
              <a:ext uri="{FF2B5EF4-FFF2-40B4-BE49-F238E27FC236}">
                <a16:creationId xmlns:a16="http://schemas.microsoft.com/office/drawing/2014/main" id="{47C3EA39-0310-090E-C239-2D36F3AE413B}"/>
              </a:ext>
            </a:extLst>
          </p:cNvPr>
          <p:cNvSpPr/>
          <p:nvPr/>
        </p:nvSpPr>
        <p:spPr>
          <a:xfrm>
            <a:off x="810768" y="121920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/api/employees/stats/</a:t>
            </a:r>
            <a:endParaRPr lang="en-US" sz="95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9FE8D1AE-F6AA-12E8-4A98-BF799BCF7B0B}"/>
              </a:ext>
            </a:extLst>
          </p:cNvPr>
          <p:cNvSpPr/>
          <p:nvPr/>
        </p:nvSpPr>
        <p:spPr>
          <a:xfrm>
            <a:off x="810768" y="148437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Department statistics</a:t>
            </a:r>
            <a:endParaRPr lang="en-US" sz="900" dirty="0"/>
          </a:p>
        </p:txBody>
      </p:sp>
      <p:sp>
        <p:nvSpPr>
          <p:cNvPr id="22" name="Text 52">
            <a:extLst>
              <a:ext uri="{FF2B5EF4-FFF2-40B4-BE49-F238E27FC236}">
                <a16:creationId xmlns:a16="http://schemas.microsoft.com/office/drawing/2014/main" id="{98BCF75A-3C7B-0A05-2B73-10937F5893E3}"/>
              </a:ext>
            </a:extLst>
          </p:cNvPr>
          <p:cNvSpPr/>
          <p:nvPr/>
        </p:nvSpPr>
        <p:spPr>
          <a:xfrm>
            <a:off x="152400" y="2368297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DE3C148-3461-52B2-F53F-5E14DD41C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366" y="1703834"/>
            <a:ext cx="4910547" cy="312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286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52336-420E-1B13-ACA4-3F372339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8F4C35-4F68-9749-BC9E-C0D9BE27E7D3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CDC3D0-0291-8285-0303-ADAD7A142AE4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Endpoints &amp; Functional Scope</a:t>
            </a:r>
            <a:endParaRPr lang="en-US" sz="22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0C0B541-7644-728C-836B-498E7FFD8741}"/>
              </a:ext>
            </a:extLst>
          </p:cNvPr>
          <p:cNvSpPr/>
          <p:nvPr/>
        </p:nvSpPr>
        <p:spPr>
          <a:xfrm>
            <a:off x="60960" y="1189882"/>
            <a:ext cx="4297680" cy="58253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1">
            <a:extLst>
              <a:ext uri="{FF2B5EF4-FFF2-40B4-BE49-F238E27FC236}">
                <a16:creationId xmlns:a16="http://schemas.microsoft.com/office/drawing/2014/main" id="{9CE7025D-739D-530E-5D26-FCA6AB7CD421}"/>
              </a:ext>
            </a:extLst>
          </p:cNvPr>
          <p:cNvSpPr/>
          <p:nvPr/>
        </p:nvSpPr>
        <p:spPr>
          <a:xfrm>
            <a:off x="60960" y="795529"/>
            <a:ext cx="4297680" cy="38404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42">
            <a:extLst>
              <a:ext uri="{FF2B5EF4-FFF2-40B4-BE49-F238E27FC236}">
                <a16:creationId xmlns:a16="http://schemas.microsoft.com/office/drawing/2014/main" id="{FF804F80-6B8D-8DD1-1D87-0C729EC040FB}"/>
              </a:ext>
            </a:extLst>
          </p:cNvPr>
          <p:cNvSpPr/>
          <p:nvPr/>
        </p:nvSpPr>
        <p:spPr>
          <a:xfrm>
            <a:off x="152400" y="795529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Extended Endpoints</a:t>
            </a:r>
            <a:endParaRPr lang="en-US" sz="1300" dirty="0"/>
          </a:p>
        </p:txBody>
      </p:sp>
      <p:sp>
        <p:nvSpPr>
          <p:cNvPr id="21" name="Shape 51">
            <a:extLst>
              <a:ext uri="{FF2B5EF4-FFF2-40B4-BE49-F238E27FC236}">
                <a16:creationId xmlns:a16="http://schemas.microsoft.com/office/drawing/2014/main" id="{F34BCEC3-E060-AB0A-4F04-D57A398E1F4D}"/>
              </a:ext>
            </a:extLst>
          </p:cNvPr>
          <p:cNvSpPr/>
          <p:nvPr/>
        </p:nvSpPr>
        <p:spPr>
          <a:xfrm>
            <a:off x="106680" y="1287783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52">
            <a:extLst>
              <a:ext uri="{FF2B5EF4-FFF2-40B4-BE49-F238E27FC236}">
                <a16:creationId xmlns:a16="http://schemas.microsoft.com/office/drawing/2014/main" id="{E7657E48-09E7-B30F-EFC9-888ED3A5A993}"/>
              </a:ext>
            </a:extLst>
          </p:cNvPr>
          <p:cNvSpPr/>
          <p:nvPr/>
        </p:nvSpPr>
        <p:spPr>
          <a:xfrm>
            <a:off x="106680" y="1287783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23" name="Text 53">
            <a:extLst>
              <a:ext uri="{FF2B5EF4-FFF2-40B4-BE49-F238E27FC236}">
                <a16:creationId xmlns:a16="http://schemas.microsoft.com/office/drawing/2014/main" id="{4E5D126E-C8A2-68FA-D84A-5D1405941478}"/>
              </a:ext>
            </a:extLst>
          </p:cNvPr>
          <p:cNvSpPr/>
          <p:nvPr/>
        </p:nvSpPr>
        <p:spPr>
          <a:xfrm>
            <a:off x="810768" y="1287783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/api/info/</a:t>
            </a:r>
            <a:endParaRPr lang="en-US" sz="950" dirty="0"/>
          </a:p>
        </p:txBody>
      </p:sp>
      <p:sp>
        <p:nvSpPr>
          <p:cNvPr id="24" name="Text 54">
            <a:extLst>
              <a:ext uri="{FF2B5EF4-FFF2-40B4-BE49-F238E27FC236}">
                <a16:creationId xmlns:a16="http://schemas.microsoft.com/office/drawing/2014/main" id="{1D4AA551-09A0-A381-2D75-06449A063B80}"/>
              </a:ext>
            </a:extLst>
          </p:cNvPr>
          <p:cNvSpPr/>
          <p:nvPr/>
        </p:nvSpPr>
        <p:spPr>
          <a:xfrm>
            <a:off x="810768" y="1552959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API route discovery</a:t>
            </a:r>
            <a:endParaRPr lang="en-US" sz="9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70299CA-86AE-D750-0B6D-A91D78B5E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377" y="1842769"/>
            <a:ext cx="4212525" cy="316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225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F3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Authentication, Permissions &amp; Security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65836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Global Permission Class:  IsAuthenticatedOrReadOnly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6276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</a:rPr>
              <a:t>Public Read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97510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Anyone may call GET endpoints without a token.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Employee data is read-only publicly.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200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7066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</a:rPr>
              <a:t>Authenticated Write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05409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POST / PUT / PATCH / DELETE require a valid token.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Unauthorised attempts return 401.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8770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2004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7856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</a:rPr>
              <a:t>Token Workflow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1330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1. POST /api/auth/register/ → create user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2. POST /api/auth/ → receive token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3. Send token in Authorization header</a:t>
            </a:r>
            <a:endParaRPr lang="en-US" sz="105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28516EA-0EFB-2FEF-6D13-B714E482A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951" y="1677925"/>
            <a:ext cx="4709850" cy="29809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Error Handling &amp; Response Semantics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914400" cy="8686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80160" y="8229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Successful GET / PUT / PATCH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914400" cy="868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7432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" y="2331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Created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80160" y="18288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Successful POST (employee created)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914400" cy="8686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274320" y="2880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4320" y="3337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 Content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80160" y="28346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Successful DELETE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82296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822960"/>
            <a:ext cx="914400" cy="8686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663440" y="868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63440" y="1325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Bad Request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8229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Validation errors / missing fields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182880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663440" y="1828800"/>
            <a:ext cx="914400" cy="8686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66344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401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63440" y="2331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Unauthorised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0" y="18288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Missing or invalid token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63440" y="283464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663440" y="2834640"/>
            <a:ext cx="914400" cy="8686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663440" y="2880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404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663440" y="3337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Not Found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0" y="28346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Employee ID does not exist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" y="3858768"/>
            <a:ext cx="8595360" cy="100584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Import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37160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import_employees data.json [--dry-run] [--clear --yes]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2331720"/>
            <a:ext cx="27432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74320" y="233172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384048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35915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A4A"/>
                </a:solidFill>
              </a:rPr>
              <a:t>Not a Public HTTP Endpoint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752344"/>
            <a:ext cx="25420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Implemented as a Django management command — not exposed over HTTP. Prevents unauthorised bulk imports in production.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2331720"/>
            <a:ext cx="27432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200400" y="233172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291840" y="2377440"/>
            <a:ext cx="384048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291840" y="237744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30752" y="235915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A4A"/>
                </a:solidFill>
              </a:rPr>
              <a:t>--dry-run Flag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10128" y="2752344"/>
            <a:ext cx="25420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Simulates the import without committing to the database. Lets developers validate data integrity before a real load.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2331720"/>
            <a:ext cx="27432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126480" y="233172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217920" y="2377440"/>
            <a:ext cx="384048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217920" y="237744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56832" y="235915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A4A"/>
                </a:solidFill>
              </a:rPr>
              <a:t>--clear --yes Flag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36208" y="2752344"/>
            <a:ext cx="25420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Wipes existing employee records before re-import. Useful for full dataset refreshes during development.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27432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65760" y="3703320"/>
            <a:ext cx="384048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365760" y="370332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" y="368503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A4A"/>
                </a:solidFill>
              </a:rPr>
              <a:t>export_id Mapping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84048" y="4078224"/>
            <a:ext cx="25420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The JSON id field is stored as export_id, preserving the original identifier separately from Django's auto-incremented PK.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0" y="3657600"/>
            <a:ext cx="27432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3200400" y="365760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3291840" y="3703320"/>
            <a:ext cx="384048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3291840" y="370332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30752" y="368503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A4A"/>
                </a:solidFill>
              </a:rPr>
              <a:t>update_or_create Strategy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310128" y="4078224"/>
            <a:ext cx="25420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Keyed on emp_id — re-running the command updates existing records rather than duplicating them.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26480" y="3657600"/>
            <a:ext cx="27432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126480" y="365760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217920" y="3703320"/>
            <a:ext cx="384048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217920" y="370332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56832" y="368503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A4A"/>
                </a:solidFill>
              </a:rPr>
              <a:t>Repeatable Loading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36208" y="4078224"/>
            <a:ext cx="25420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Idempotent design means the command can be run multiple times safely, supporting CI workflows and test fixtures.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Automated Testing Evidence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solidFill>
            <a:srgbClr val="16A34A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PASS  python manage.py test  --  8 / 8 Tests Passed</a:t>
            </a:r>
            <a:endParaRPr lang="en-US" sz="1700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A3613D5B-1B5B-3AAF-0FC8-7FC9CC981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32" y="2126997"/>
            <a:ext cx="8219968" cy="24958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Validation / Error Cases &amp;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Case 1 — Registration Error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4A"/>
                </a:solidFill>
              </a:rPr>
              <a:t>Request: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374904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/api/auth/register/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"username": "" 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542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Response (400 Bad Request):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3749040" cy="107899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11480" y="2834640"/>
            <a:ext cx="3657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"username": ["This field may not be blank."],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["This field is required."],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"password": ["This field is required."]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42976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572000" y="822960"/>
            <a:ext cx="429768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663440" y="822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Case 2 — Missing Search Query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4A"/>
                </a:solidFill>
              </a:rPr>
              <a:t>Request: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627632"/>
            <a:ext cx="41148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709160" y="1627632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/api/employees/search/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 ?q= parameter provided)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2542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Response (400 Bad Request):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834640"/>
            <a:ext cx="4114800" cy="107899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709160" y="2834640"/>
            <a:ext cx="40233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"error": "Search query parameter 'q' is required."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160520"/>
            <a:ext cx="8595360" cy="804672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</a:rPr>
              <a:t>These cases confirm: (1) validation is enforced server-side, (2) error messages are clear and actionable, (3) implementation matches the documented API contract.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FFF1A-E0A5-CCAF-F9D6-93A30408A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">
            <a:extLst>
              <a:ext uri="{FF2B5EF4-FFF2-40B4-BE49-F238E27FC236}">
                <a16:creationId xmlns:a16="http://schemas.microsoft.com/office/drawing/2014/main" id="{47651A33-CFAD-0477-17DC-FE5AC6B58F1E}"/>
              </a:ext>
            </a:extLst>
          </p:cNvPr>
          <p:cNvSpPr/>
          <p:nvPr/>
        </p:nvSpPr>
        <p:spPr>
          <a:xfrm>
            <a:off x="0" y="3150870"/>
            <a:ext cx="9144000" cy="97536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D512199-0B8A-F0D8-BB11-B3FC0FAFA444}"/>
              </a:ext>
            </a:extLst>
          </p:cNvPr>
          <p:cNvSpPr/>
          <p:nvPr/>
        </p:nvSpPr>
        <p:spPr>
          <a:xfrm>
            <a:off x="0" y="861060"/>
            <a:ext cx="9144000" cy="110490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A145C2D-02EE-0C60-F50C-257576E9948A}"/>
              </a:ext>
            </a:extLst>
          </p:cNvPr>
          <p:cNvSpPr/>
          <p:nvPr/>
        </p:nvSpPr>
        <p:spPr>
          <a:xfrm>
            <a:off x="0" y="107061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Thanks For Listening!</a:t>
            </a:r>
            <a:endParaRPr lang="en-US" sz="22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342D0DFC-5851-8279-4034-77B1F4B61D9A}"/>
              </a:ext>
            </a:extLst>
          </p:cNvPr>
          <p:cNvSpPr/>
          <p:nvPr/>
        </p:nvSpPr>
        <p:spPr>
          <a:xfrm>
            <a:off x="0" y="3188970"/>
            <a:ext cx="9144000" cy="899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Author: CAO Yuchen   SWJTU ID: 2022115980   Leeds ID: 201690931</a:t>
            </a:r>
          </a:p>
        </p:txBody>
      </p:sp>
    </p:spTree>
    <p:extLst>
      <p:ext uri="{BB962C8B-B14F-4D97-AF65-F5344CB8AC3E}">
        <p14:creationId xmlns:p14="http://schemas.microsoft.com/office/powerpoint/2010/main" val="72225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1060</Words>
  <Application>Microsoft Office PowerPoint</Application>
  <PresentationFormat>全屏显示(16:9)</PresentationFormat>
  <Paragraphs>284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Management Platform – Django REST API</dc:title>
  <dc:subject>PptxGenJS Presentation</dc:subject>
  <dc:creator>PptxGenJS</dc:creator>
  <cp:lastModifiedBy>Yuchen Cao [sc22yc3]</cp:lastModifiedBy>
  <cp:revision>33</cp:revision>
  <dcterms:created xsi:type="dcterms:W3CDTF">2026-04-21T08:57:28Z</dcterms:created>
  <dcterms:modified xsi:type="dcterms:W3CDTF">2026-04-21T09:49:21Z</dcterms:modified>
</cp:coreProperties>
</file>